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迈克尔逊干涉仪</a:t>
            </a:r>
            <a:endParaRPr lang="en-US" sz="4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测折射率实验探究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答辩报告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1828800" cy="27432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物理实验 · 迈克尔逊干涉仪 · 折射率测量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25880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实验背景与目的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19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研究动机与实验目标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2423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实验装置与光路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8163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迈克尔逊干涉仪结构与配置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2588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实验操作与现象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3913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红光 &amp; 白光两种实验流程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28016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40680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核心原理探究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40680" y="1719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虚像位移 vs 零光程差补偿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237744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440680" y="2423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数据处理与结果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40680" y="28163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测量数据、折射率计算与不确定度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4068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误差分析与结论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40680" y="3913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误差来源讨论与最终结论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实验背景与目的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17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研究背景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196596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迈克尔逊干涉仪是精密光学测量的经典工具，利用双光束干涉原理实现高精度位移与折射率测量。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核心问题：在干涉仪一臂插入玻璃片后，条纹形态发生变化。不同光源（激光/白光）下，恢复条纹时动镜M1的移动方向居然相反——这一现象背后的物理本质是什么？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46320" y="123444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417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实验目的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120640" y="196596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使用迈克尔逊干涉仪测量两种不同厚度与类型玻璃片的折射率。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探究不同光源下插入玻璃片后，动镜M1的移动方向差异及其物理原因，并给出对应折射率计算公式。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实验装置与光路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33832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实验仪器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196596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迈克尔逊干涉仪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氦氖激光器（红光，λ≈632.8nm）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短焦距透镜 + 扩束镜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毛玻璃片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白光光源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观察屏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厚玻璃板（7mm）&amp; 薄玻璃片（0.3mm）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17720" y="1234440"/>
            <a:ext cx="3886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89204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光路示意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846320" y="1828800"/>
            <a:ext cx="640080" cy="320040"/>
          </a:xfrm>
          <a:prstGeom prst="rect">
            <a:avLst>
              <a:gd name="adj" fmla="val 14286"/>
            </a:avLst>
          </a:prstGeom>
          <a:solidFill>
            <a:srgbClr val="2980B9"/>
          </a:solidFill>
          <a:ln/>
        </p:spPr>
      </p:sp>
      <p:sp>
        <p:nvSpPr>
          <p:cNvPr id="12" name="Text 9"/>
          <p:cNvSpPr/>
          <p:nvPr/>
        </p:nvSpPr>
        <p:spPr>
          <a:xfrm>
            <a:off x="4846320" y="18288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光源 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1828800"/>
            <a:ext cx="502920" cy="3200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5577840" y="18288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G₁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1828800"/>
            <a:ext cx="502920" cy="3200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0" y="18288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G₂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303520" y="2468880"/>
            <a:ext cx="777240" cy="320040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18" name="Text 15"/>
          <p:cNvSpPr/>
          <p:nvPr/>
        </p:nvSpPr>
        <p:spPr>
          <a:xfrm>
            <a:off x="5303520" y="24688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M₁ 可动镜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406640" y="2286000"/>
            <a:ext cx="777240" cy="32004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0" name="Text 17"/>
          <p:cNvSpPr/>
          <p:nvPr/>
        </p:nvSpPr>
        <p:spPr>
          <a:xfrm>
            <a:off x="7406640" y="22860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M₂ 固定镜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303520" y="2880360"/>
            <a:ext cx="777240" cy="1828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2" name="Text 19"/>
          <p:cNvSpPr/>
          <p:nvPr/>
        </p:nvSpPr>
        <p:spPr>
          <a:xfrm>
            <a:off x="5303520" y="2880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玻璃板 d,n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846320" y="3383280"/>
            <a:ext cx="640080" cy="274320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24" name="Text 21"/>
          <p:cNvSpPr/>
          <p:nvPr/>
        </p:nvSpPr>
        <p:spPr>
          <a:xfrm>
            <a:off x="48463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观察屏 E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5486400" y="1988820"/>
            <a:ext cx="914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829300" y="2148840"/>
            <a:ext cx="0" cy="320040"/>
          </a:xfrm>
          <a:prstGeom prst="line">
            <a:avLst/>
          </a:prstGeom>
          <a:noFill/>
          <a:ln w="19050">
            <a:solidFill>
              <a:srgbClr val="CC2233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>
            <a:off x="5829300" y="2468880"/>
            <a:ext cx="0" cy="-320040"/>
          </a:xfrm>
          <a:prstGeom prst="line">
            <a:avLst/>
          </a:prstGeom>
          <a:noFill/>
          <a:ln w="19050">
            <a:solidFill>
              <a:srgbClr val="CC2233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6080760" y="1988820"/>
            <a:ext cx="137160" cy="0"/>
          </a:xfrm>
          <a:prstGeom prst="line">
            <a:avLst/>
          </a:prstGeom>
          <a:noFill/>
          <a:ln w="19050">
            <a:solidFill>
              <a:srgbClr val="2980B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720840" y="1988820"/>
            <a:ext cx="685800" cy="0"/>
          </a:xfrm>
          <a:prstGeom prst="line">
            <a:avLst/>
          </a:prstGeom>
          <a:noFill/>
          <a:ln w="19050">
            <a:solidFill>
              <a:srgbClr val="2980B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829300" y="2148840"/>
            <a:ext cx="0" cy="822960"/>
          </a:xfrm>
          <a:prstGeom prst="line">
            <a:avLst/>
          </a:prstGeom>
          <a:noFill/>
          <a:ln w="19050">
            <a:solidFill>
              <a:srgbClr val="1E293B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5829300" y="2971800"/>
            <a:ext cx="-982980" cy="548640"/>
          </a:xfrm>
          <a:prstGeom prst="line">
            <a:avLst/>
          </a:prstGeom>
          <a:noFill/>
          <a:ln w="19050">
            <a:solidFill>
              <a:srgbClr val="1E293B"/>
            </a:solidFill>
            <a:prstDash val="dash"/>
          </a:ln>
        </p:spPr>
      </p:sp>
      <p:sp>
        <p:nvSpPr>
          <p:cNvPr id="32" name="Text 29"/>
          <p:cNvSpPr/>
          <p:nvPr/>
        </p:nvSpPr>
        <p:spPr>
          <a:xfrm>
            <a:off x="658368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半透半反分光板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补偿板（同G₁材质厚度）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可沿臂方向移动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位置固定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实验操作与现象 —— 红色激光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234440"/>
            <a:ext cx="457200" cy="457200"/>
          </a:xfrm>
          <a:prstGeom prst="ellipse">
            <a:avLst/>
          </a:prstGeom>
          <a:solidFill>
            <a:srgbClr val="CC223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准直扩束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He-Ne激光 + 扩束镜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形成点光源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调出条纹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微调M1/M2角度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出现同心圆环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091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参考状态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调至平行直条纹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记录d₀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064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21" name="Text 19"/>
          <p:cNvSpPr/>
          <p:nvPr/>
        </p:nvSpPr>
        <p:spPr>
          <a:xfrm>
            <a:off x="58064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093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406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406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插入7mm厚玻璃板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条纹变回圆环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06640" y="1234440"/>
            <a:ext cx="457200" cy="457200"/>
          </a:xfrm>
          <a:prstGeom prst="ellipse">
            <a:avLst/>
          </a:prstGeom>
          <a:solidFill>
            <a:srgbClr val="CC2233"/>
          </a:solidFill>
          <a:ln/>
        </p:spPr>
      </p:sp>
      <p:sp>
        <p:nvSpPr>
          <p:cNvPr id="26" name="Text 24"/>
          <p:cNvSpPr/>
          <p:nvPr/>
        </p:nvSpPr>
        <p:spPr>
          <a:xfrm>
            <a:off x="7406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补偿调整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408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M1远离分光板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恢复平行条纹 → d₁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2926080"/>
            <a:ext cx="7863840" cy="1097280"/>
          </a:xfrm>
          <a:prstGeom prst="rect">
            <a:avLst/>
          </a:prstGeom>
          <a:solidFill>
            <a:srgbClr val="FDE8E8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观测现象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3383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插入玻璃板后，条纹重新变成同心圆环；将 M1 向远离分光板方向移动，可重新找到清晰平行条纹。</a:t>
            </a:r>
            <a:endParaRPr lang="en-US" sz="13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91840"/>
            <a:ext cx="320040" cy="32004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14400" y="4160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折射率公式：</a:t>
            </a:r>
            <a:pPr indent="0" marL="0">
              <a:buNone/>
            </a:pPr>
            <a:r>
              <a:rPr lang="en-US" sz="1400" b="1" i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 / (d − Δx)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其中 Δx 为 M1 远离分光板的位移量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实验操作与现象 —— 白色光源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23444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切换光源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 + 毛玻璃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形成扩展光源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寻迹条纹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缓慢移动M1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找到彩色条纹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091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404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参考状态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条纹最清晰时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记录d₀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06440" y="1234440"/>
            <a:ext cx="457200" cy="4572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21" name="Text 19"/>
          <p:cNvSpPr/>
          <p:nvPr/>
        </p:nvSpPr>
        <p:spPr>
          <a:xfrm>
            <a:off x="58064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09360" y="12344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406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406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插入0.3mm薄片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彩条消失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06640" y="1234440"/>
            <a:ext cx="457200" cy="45720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7406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1828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补偿调整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40880" y="2148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M1靠近分光板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恢复彩条 → d₁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2926080"/>
            <a:ext cx="7863840" cy="10972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观测现象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3383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插入玻璃片后彩色条纹迅速消失；通过将 M1 向靠近分光板方向移动，可重新找到清晰彩色平行条纹。</a:t>
            </a:r>
            <a:endParaRPr lang="en-US" sz="13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91840"/>
            <a:ext cx="320040" cy="32004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14400" y="4160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折射率公式：</a:t>
            </a:r>
            <a:pPr indent="0" marL="0">
              <a:buNone/>
            </a:pPr>
            <a:r>
              <a:rPr lang="en-US" sz="14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 + Δx / 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其中 Δx 为 M1 靠近分光板的位移量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核心原理：条纹形态判据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关键区分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17320" y="17373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光程差 Δ 本身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决定亮暗（干涉级次）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∂Δ/∂θ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决定条纹形态：=0为平直条纹，≠0为同心圆环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36576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两虚点光源模型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97280" y="3200400"/>
            <a:ext cx="228600" cy="228600"/>
          </a:xfrm>
          <a:prstGeom prst="ellipse">
            <a:avLst/>
          </a:prstGeom>
          <a:solidFill>
            <a:srgbClr val="CC2233"/>
          </a:solidFill>
          <a:ln/>
        </p:spPr>
      </p:sp>
      <p:sp>
        <p:nvSpPr>
          <p:cNvPr id="12" name="Text 9"/>
          <p:cNvSpPr/>
          <p:nvPr/>
        </p:nvSpPr>
        <p:spPr>
          <a:xfrm>
            <a:off x="1097280" y="30175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S₁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468880" y="3200400"/>
            <a:ext cx="228600" cy="228600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4" name="Text 11"/>
          <p:cNvSpPr/>
          <p:nvPr/>
        </p:nvSpPr>
        <p:spPr>
          <a:xfrm>
            <a:off x="2468880" y="30175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S₂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371600" y="31089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2h →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325880" y="3310128"/>
            <a:ext cx="11430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3291840" y="2880360"/>
            <a:ext cx="73152" cy="9144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8" name="Text 15"/>
          <p:cNvSpPr/>
          <p:nvPr/>
        </p:nvSpPr>
        <p:spPr>
          <a:xfrm>
            <a:off x="3429000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屏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1440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Δ(θ) ≈ 2h cosθ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 较大 → ∂Δ/∂θ ≠ 0 → 同心圆环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 → 0 → ∂Δ/∂θ = 0 → 平直条纹（等厚）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46320" y="2468880"/>
            <a:ext cx="36576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5120640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形态判据总结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120640" y="30632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条纹是圆环还是平直，唯一取决于 h 是否为零 —— 与绝对光程差的大小毫无关系。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实验操作中调出平直条纹 = 将 M1 调至 h = 0，即两虚光源在空间上重合。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原理一：红光实验 —— 虚像位移补偿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插入玻璃的双重效应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828800"/>
          <a:ext cx="3474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效应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机制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对 ∂Δ/∂θ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减速效应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光速变慢→固定光程偏移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零（常数求导）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2233"/>
                          </a:solidFill>
                        </a:rPr>
                        <a:t>视深效应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折射→M1虚像前移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2233"/>
                          </a:solidFill>
                        </a:rPr>
                        <a:t>非零（h≠0）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17720" y="1234440"/>
            <a:ext cx="3886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9204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补偿逻辑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892040" y="1828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虚像前移量：Δx' = d(1 − 1/n)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M1 向后移动相同距离 Δx = Δx'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 重新归零 → 平直条纹恢复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d / (d − Δx)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291840"/>
            <a:ext cx="7863840" cy="1371600"/>
          </a:xfrm>
          <a:prstGeom prst="rect">
            <a:avLst/>
          </a:prstGeom>
          <a:solidFill>
            <a:srgbClr val="FDE8E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4290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71600" y="3429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3716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激光相干长度极长（数十厘米），对固定光程偏移 2d(n−1) 完全不敏感。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条纹形态只响应于虚像间距 h 的变化。M1 后退纯粹是为了让虚像在几何上退回 h=0，完全无关光程差补偿。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原理二：白光实验 —— 零光程差补偿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40233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白光的「光程极零」强制约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白光为宽频带复色光，相干长度仅微米量级。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核心要求：OPD ≈ 0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各色条纹须在视场中心同相位叠加，才能在中心区域观察到少量彩色干涉条纹。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8862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补偿推导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插入玻璃 → OPD 跳变：</a:t>
            </a:r>
            <a:pPr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Δ(OPD) = 2d(n−1)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推进 Δx → 光程减少 2Δx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补偿守恒：2Δx = 2d(n−1)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 + Δx / 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7863840" cy="1051560"/>
          </a:xfrm>
          <a:prstGeom prst="rect">
            <a:avLst/>
          </a:prstGeom>
          <a:solidFill>
            <a:srgbClr val="FFF8E1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033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71600" y="3703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371600" y="404164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白光仅要求 OPD ≈ 0，不要求 h = 0。补偿后残留 h ≈ 0.06mm 使条纹曲率极小，在劈尖角主导下呈现近似平行的彩色外观。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原理对比与实验设计呼应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7863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红光实验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白光实验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0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物理机制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视深效应 → 虚像位移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光程跳变 → OPD补偿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M1 移动方向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2233"/>
                          </a:solidFill>
                        </a:rPr>
                        <a:t>远离分光板 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4A017"/>
                          </a:solidFill>
                        </a:rPr>
                        <a:t>→ 靠近分光板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玻璃厚度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 mm（厚）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0.3 mm（薄）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公式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CC2233"/>
                          </a:solidFill>
                        </a:rPr>
                        <a:t>n = d/(d−Δx)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D4A017"/>
                          </a:solidFill>
                        </a:rPr>
                        <a:t>n = 1+Δx/d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383280"/>
            <a:ext cx="786384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5204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35204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玻璃厚度选择的物理必然性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71600" y="38862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红光实验（厚 7mm）：虚像位移 ≈ 2.33mm，信号大、易测量。激光不计较相伴的 7mm 级光程偏移。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白光实验（薄 0.3mm）：OPD 跳变 ≈ 0.3mm，补偿位移 ≈ 0.15mm 可追踪。若用 7mm 厚玻璃，OPD 跳变远超微米级相干长度，实验上不可能重新捕捉彩色条纹。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数据处理与结果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3566160" cy="3246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红光实验 (d = 7.0 mm)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Δx₁ = 2.79632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Δx₂ = 2.80415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Δx₃ = 2.78987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均值 Δx̄ = 2.79678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s_Δx = 0.00716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u(Δx̄) = 0.00413 mm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3749040"/>
            <a:ext cx="3017520" cy="548640"/>
          </a:xfrm>
          <a:prstGeom prst="rect">
            <a:avLst/>
          </a:prstGeom>
          <a:solidFill>
            <a:srgbClr val="FDE8E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ctr" indent="0" marL="0">
              <a:buNone/>
            </a:pPr>
            <a:r>
              <a:rPr lang="en-US" sz="12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</a:t>
            </a:r>
            <a:pPr algn="ctr" indent="0" marL="0">
              <a:buNone/>
            </a:pPr>
            <a:r>
              <a:rPr lang="en-US" sz="13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1.6655 ± 0.0016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566160" cy="3246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1208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白光实验 (d = 0.3 mm)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12080" y="182880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Δx₁ = 0.17201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Δx₂ = 0.17055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Δx₃ = 0.17389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均值 Δx̄ = 0.17215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s_Δx = 0.00168 mm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u(Δx̄) = 0.00097 mm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3749040"/>
            <a:ext cx="3017520" cy="54864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0" y="3749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algn="ctr"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</a:t>
            </a:r>
            <a:pPr algn="ctr"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1.5738 ± 0.0032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误差分析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841248"/>
            <a:ext cx="1371600" cy="36576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365760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红光实验误差源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条纹判断误差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「平直程度」依赖主观判断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千分尺读数误差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回差或视差影响 Δx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玻璃板放置偏差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未严格垂直入射 → 系统偏差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厚度 d 测量误差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偏差会被放大或缩小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65760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白光实验误差源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8288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相干条件更苛刻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条纹消失/重现判定更敏感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光源对准不稳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扩展光源偏差 → 彩条不清晰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薄片厚度偏差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d仅0.3mm, 微小偏差被显著放大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87368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71600" y="393192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两者均落在常见玻璃折射率范围内，从不同物理机制出发得到量级合理的结果，相互印证了两种补偿逻辑的正确性。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结论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红光实验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5361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需将 M1 远离分光板以补偿视深效应，恢复等厚干涉几何条件。n = d/(d−Δx)，n红 = 1.6655 ± 0.0016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50292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377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白光实验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249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需将 M1 靠近分光板以补偿光程跳变，回归 OPD ≈ 0。n = 1+Δx/d，n白 = 1.5738 ± 0.0032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方向差异的根源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91363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激光相干长度极长，只响应虚像间距 h（几何条件）；白光相干长度极短，只响应绝对光程差 OPD ≈ 0。两种光源对干涉条件的选择性不同导致了完全相反的补偿方向。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223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谢谢！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2926080" y="2651760"/>
            <a:ext cx="3291840" cy="2743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感谢聆听 · 欢迎提问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迈克尔逊干涉仪测折射率实验探究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迈克尔逊干涉仪测折射率实验探究</dc:title>
  <dc:subject>PptxGenJS Presentation</dc:subject>
  <dc:creator>实验探究答辩</dc:creator>
  <cp:lastModifiedBy>实验探究答辩</cp:lastModifiedBy>
  <cp:revision>1</cp:revision>
  <dcterms:created xsi:type="dcterms:W3CDTF">2026-06-04T13:36:22Z</dcterms:created>
  <dcterms:modified xsi:type="dcterms:W3CDTF">2026-06-04T13:36:22Z</dcterms:modified>
</cp:coreProperties>
</file>