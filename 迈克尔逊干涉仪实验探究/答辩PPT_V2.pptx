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C223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迈克尔逊干涉仪</a:t>
            </a:r>
            <a:endParaRPr lang="en-US" sz="4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测折射率实验探究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答辩报告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1828800" cy="27432"/>
          </a:xfrm>
          <a:prstGeom prst="rect">
            <a:avLst/>
          </a:prstGeom>
          <a:solidFill>
            <a:srgbClr val="CC223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2062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物理实验 · 迈克尔逊干涉仪 · 折射率测量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371600" cy="36576"/>
          </a:xfrm>
          <a:prstGeom prst="rect">
            <a:avLst/>
          </a:prstGeom>
          <a:solidFill>
            <a:srgbClr val="CC223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C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4300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实验背景、目的与仪器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研究动机与实验配置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C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14300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实验操作与现象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2743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红光 &amp; 白光两种实验流程与观测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42900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C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143000" y="3474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核心原理：形态判据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43000" y="3840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两虚点光源模型与 Δ(θ)≈2h cos θ 推导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63440" y="123444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C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34924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红光原理：虚像位移补偿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34924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减速效应 vs 视深效应，补偿逻辑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233172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C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34924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白光原理：零光程差补偿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49240" y="2743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OPD≈0 约束与折射率推导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342900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C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349240" y="3474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数据处理、误差分析与结论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349240" y="3840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完整计算、误差讨论与最终结论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实验目的与仪器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371600" cy="36576"/>
          </a:xfrm>
          <a:prstGeom prst="rect">
            <a:avLst/>
          </a:prstGeom>
          <a:solidFill>
            <a:srgbClr val="CC223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43000"/>
            <a:ext cx="39319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280160"/>
            <a:ext cx="320040" cy="320040"/>
          </a:xfrm>
          <a:prstGeom prst="rect">
            <a:avLst>
              <a:gd name="adj" fmla="val 14286"/>
            </a:avLst>
          </a:prstGeom>
          <a:solidFill>
            <a:srgbClr val="CC223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80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🎯</a:t>
            </a:r>
            <a:endParaRPr lang="en-US" sz="910" dirty="0"/>
          </a:p>
        </p:txBody>
      </p:sp>
      <p:sp>
        <p:nvSpPr>
          <p:cNvPr id="8" name="Text 6"/>
          <p:cNvSpPr/>
          <p:nvPr/>
        </p:nvSpPr>
        <p:spPr>
          <a:xfrm>
            <a:off x="105156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实验目的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16916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用迈克尔逊干涉仪测量两种不同厚度与类型玻璃片的折射率。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探究不同光源下插入玻璃片后，动镜 M1 移动方向差异的物理原因，并给出对应折射率计算公式。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143000"/>
            <a:ext cx="39319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0" y="1280160"/>
            <a:ext cx="320040" cy="320040"/>
          </a:xfrm>
          <a:prstGeom prst="rect">
            <a:avLst>
              <a:gd name="adj" fmla="val 14286"/>
            </a:avLst>
          </a:prstGeom>
          <a:solidFill>
            <a:srgbClr val="1B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280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910" dirty="0"/>
          </a:p>
        </p:txBody>
      </p:sp>
      <p:sp>
        <p:nvSpPr>
          <p:cNvPr id="13" name="Text 11"/>
          <p:cNvSpPr/>
          <p:nvPr/>
        </p:nvSpPr>
        <p:spPr>
          <a:xfrm>
            <a:off x="544068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实验仪器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16916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迈克尔逊干涉仪、氦氖激光器、短焦距透镜、扩束镜、毛玻璃片、白光光源、观察屏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606040"/>
            <a:ext cx="822960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实验配置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3154680"/>
            <a:ext cx="640080" cy="292608"/>
          </a:xfrm>
          <a:prstGeom prst="rect">
            <a:avLst>
              <a:gd name="adj" fmla="val 9375"/>
            </a:avLst>
          </a:prstGeom>
          <a:solidFill>
            <a:srgbClr val="2980B9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1546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光源 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417320" y="315468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737360" y="3154680"/>
            <a:ext cx="502920" cy="29260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1" name="Text 19"/>
          <p:cNvSpPr/>
          <p:nvPr/>
        </p:nvSpPr>
        <p:spPr>
          <a:xfrm>
            <a:off x="1737360" y="31546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G₁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286000" y="3154680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—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60320" y="3154680"/>
            <a:ext cx="502920" cy="29260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2560320" y="31546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G₂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108960" y="315468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29000" y="3154680"/>
            <a:ext cx="640080" cy="292608"/>
          </a:xfrm>
          <a:prstGeom prst="rect">
            <a:avLst>
              <a:gd name="adj" fmla="val 9375"/>
            </a:avLst>
          </a:prstGeom>
          <a:solidFill>
            <a:srgbClr val="2980B9"/>
          </a:solidFill>
          <a:ln/>
        </p:spPr>
      </p:sp>
      <p:sp>
        <p:nvSpPr>
          <p:cNvPr id="27" name="Text 25"/>
          <p:cNvSpPr/>
          <p:nvPr/>
        </p:nvSpPr>
        <p:spPr>
          <a:xfrm>
            <a:off x="3429000" y="31546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M₂(定镜)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737360" y="34747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↓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737360" y="3703320"/>
            <a:ext cx="502920" cy="29260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0" name="Text 28"/>
          <p:cNvSpPr/>
          <p:nvPr/>
        </p:nvSpPr>
        <p:spPr>
          <a:xfrm>
            <a:off x="1737360" y="370332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玻璃片 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737360" y="40233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↓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737360" y="4251960"/>
            <a:ext cx="502920" cy="292608"/>
          </a:xfrm>
          <a:prstGeom prst="rect">
            <a:avLst>
              <a:gd name="adj" fmla="val 9375"/>
            </a:avLst>
          </a:prstGeom>
          <a:solidFill>
            <a:srgbClr val="CC2233"/>
          </a:solidFill>
          <a:ln/>
        </p:spPr>
      </p:sp>
      <p:sp>
        <p:nvSpPr>
          <p:cNvPr id="33" name="Text 31"/>
          <p:cNvSpPr/>
          <p:nvPr/>
        </p:nvSpPr>
        <p:spPr>
          <a:xfrm>
            <a:off x="1737360" y="425196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M₁(动镜)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572000" y="274320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元件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位置		说明
</a:t>
            </a:r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M₁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上方垂直臂	可移动镜，沿垂直方向移动
</a:t>
            </a:r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M₂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右侧水平臂	固定镜，位置不变
</a:t>
            </a:r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G₁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左侧45°平板	分光板，半透半反
</a:t>
            </a:r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G₂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右侧45°平板	补偿板，材质厚度同G₁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红光实验：操作与现象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371600" cy="36576"/>
          </a:xfrm>
          <a:prstGeom prst="rect">
            <a:avLst/>
          </a:prstGeom>
          <a:solidFill>
            <a:srgbClr val="CC223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20040" cy="320040"/>
          </a:xfrm>
          <a:prstGeom prst="ellipse">
            <a:avLst/>
          </a:prstGeom>
          <a:solidFill>
            <a:srgbClr val="CC223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143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光源与准直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3990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开启氦氖激光，光束通过扩束镜，形成近似点光源与发散光束。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320040" cy="320040"/>
          </a:xfrm>
          <a:prstGeom prst="ellipse">
            <a:avLst/>
          </a:prstGeom>
          <a:solidFill>
            <a:srgbClr val="CC2233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240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194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条纹调出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24505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微调 M1 与 M2 的角度，使观察屏上出现同心圆环条纹。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320040" cy="320040"/>
          </a:xfrm>
          <a:prstGeom prst="ellipse">
            <a:avLst/>
          </a:prstGeom>
          <a:solidFill>
            <a:srgbClr val="CC2233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291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3246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参考状态记录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350215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不插入玻璃板，调整 M1 使圆环逐渐过渡为平行直条纹，记录位置 d₀。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188720"/>
            <a:ext cx="320040" cy="320040"/>
          </a:xfrm>
          <a:prstGeom prst="ellipse">
            <a:avLst/>
          </a:prstGeom>
          <a:solidFill>
            <a:srgbClr val="CC2233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188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74920" y="1143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插入厚玻璃板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74920" y="13990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M1 臂中垂直插入厚玻璃板（d=7mm），保持玻璃板面与光束基本垂直。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2240280"/>
            <a:ext cx="320040" cy="320040"/>
          </a:xfrm>
          <a:prstGeom prst="ellipse">
            <a:avLst/>
          </a:prstGeom>
          <a:solidFill>
            <a:srgbClr val="CC2233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2240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74920" y="2194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条纹变化观察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74920" y="24505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条纹重新变成同心圆环条纹。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291840"/>
            <a:ext cx="320040" cy="320040"/>
          </a:xfrm>
          <a:prstGeom prst="ellipse">
            <a:avLst/>
          </a:prstGeom>
          <a:solidFill>
            <a:srgbClr val="CC2233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3291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74920" y="3246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补偿调整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74920" y="350215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 M1 向远离分光板方向移动，使平行条纹重新出现且清晰，记录 d₁。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solidFill>
            <a:srgbClr val="FDE8E8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206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观测现象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4434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插入玻璃板后，条纹重新变成同心圆环；将 M1 向远离分光板方向移动，可重新找到清晰平行条纹。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58000" y="4160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CC22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 = d / (d − Δx)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白光实验：操作与现象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371600" cy="36576"/>
          </a:xfrm>
          <a:prstGeom prst="rect">
            <a:avLst/>
          </a:prstGeom>
          <a:solidFill>
            <a:srgbClr val="CC223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20040" cy="32004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143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光源切换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3990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更换为白光光源，加入毛玻璃片以形成扩展光源，调整对准使光束进入干涉仪。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320040" cy="32004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240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194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条纹寻迹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24505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缓慢移动 M1，在视场中寻找中心彩色条纹，并使其清晰可辨。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320040" cy="32004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291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3246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参考状态记录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350215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确认条纹最清晰时的 M1 位置，记录为参考读数 d₀。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188720"/>
            <a:ext cx="320040" cy="32004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188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74920" y="1143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插入薄玻璃片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74920" y="13990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M1 臂中垂直插入薄玻璃片（d=0.3mm）。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2240280"/>
            <a:ext cx="320040" cy="32004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2240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74920" y="2194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条纹变化观察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74920" y="24505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彩色条纹迅速消失。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291840"/>
            <a:ext cx="320040" cy="32004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3291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74920" y="3246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补偿调整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74920" y="350215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缓慢将 M1 向靠近分光板方向移动，直至彩色条纹重新出现，记录 d₁。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206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观测现象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4434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插入玻璃片后彩色条纹会消失；通过将 M1 向靠近分光板方向移动，可重新找到清晰彩色平行条纹。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58000" y="4160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D4A01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 = 1 + Δx / 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核心原理(1)：两虚点光源模型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371600" cy="36576"/>
          </a:xfrm>
          <a:prstGeom prst="rect">
            <a:avLst/>
          </a:prstGeom>
          <a:solidFill>
            <a:srgbClr val="CC223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97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关键区分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光程差 Δ 本身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决定屏上某一点的亮暗（干涉级次）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∂Δ/∂θ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决定条纹的整体形态。=0 为平直条纹，≠0 为同心圆环。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411480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几何模型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经分光板 G₁ 分光后，同一光源在 M₁ 与 M₂ 后各形成一个虚点光源 S₁、S₂，两者沿光轴方向相距 2h（h 为动镜 M₁ 与定镜虚像 M₂' 之间的间距）。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观察屏距 S₂ 为 L（L ≫ 2h），屏上一点 P 到轴距离为 ρ，视角 θ 满足 cosθ = L / √(L²+ρ²)。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两束光的光程差精确为：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3520440"/>
            <a:ext cx="3749040" cy="4114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593592"/>
            <a:ext cx="3566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Δ(θ) = √[(L+2h)² + ρ²] − √[L² + ρ²]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0233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将分子有理化，分子分母同乘共轭式：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4297680"/>
            <a:ext cx="3749040" cy="5029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370832"/>
            <a:ext cx="3566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Δ(θ) = [(L+2h)²+ρ² − L²−ρ²] / [√(L+2h)²+ρ² + √L²+ρ²]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   = (4Lh + 4h²) / [√(L+2h)²+ρ² + √L²+ρ²]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103120"/>
            <a:ext cx="393192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示意图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120640" y="2743200"/>
            <a:ext cx="182880" cy="182880"/>
          </a:xfrm>
          <a:prstGeom prst="ellipse">
            <a:avLst/>
          </a:prstGeom>
          <a:solidFill>
            <a:srgbClr val="CC2233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0" y="257860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S₁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17920" y="2743200"/>
            <a:ext cx="182880" cy="18288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257860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S₂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49240" y="26974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2h →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49240" y="2852928"/>
            <a:ext cx="8229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6492240" y="26974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20840" y="26974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132320" y="2560320"/>
            <a:ext cx="54864" cy="5486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7223760" y="27432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屏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69480" y="3200400"/>
            <a:ext cx="73152" cy="73152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7360920" y="31089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(ρ)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159752" y="2852928"/>
            <a:ext cx="109728" cy="34747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9440" y="30632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37760" y="34747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S₁: 虚光源₁ (M₁臂)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S₂: 虚光源₂ (M₂臂)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≫ 2h，ρ 为屏上点到轴距离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核心原理(2)：Δ(θ) ≈ 2h cosθ 推导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371600" cy="36576"/>
          </a:xfrm>
          <a:prstGeom prst="rect">
            <a:avLst/>
          </a:prstGeom>
          <a:solidFill>
            <a:srgbClr val="CC223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1：近似处理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 L ≫ 2h，分母中 (L+2h)² ≈ L²，故：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3566160" cy="3200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810512"/>
            <a:ext cx="3383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√(L+2h)²+ρ² + √L²+ρ² ≈ 2√L²+ρ²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同时分子中 4h² 项可略去：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377440"/>
            <a:ext cx="3566160" cy="4572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45059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Δ(θ) ≈ 4Lh / (2√L²+ρ²)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   = 2h · L / √L²+ρ²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05156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2：核心公式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 cosθ = L / √(L²+ρ²)，代入得：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1737360"/>
            <a:ext cx="3566160" cy="502920"/>
          </a:xfrm>
          <a:prstGeom prst="rect">
            <a:avLst/>
          </a:prstGeom>
          <a:solidFill>
            <a:srgbClr val="FDE8E8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810512"/>
            <a:ext cx="3383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b="1" i="1" dirty="0">
                <a:solidFill>
                  <a:srgbClr val="CC22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Δ(θ) ≈ 2h cosθ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3317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这是理解整个实验形态判据的核心公式。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82296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3063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角度依赖性分析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较大时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∂Δ/∂θ = −2h sinθ ≠ 0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光程差随 θ 变化，同一 θ 的圆上 Δ 相同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同心圆环（等倾干涉）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6344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→ 0 时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∂Δ/∂θ = 0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光程差对所有 θ 均相同，发散角影响被消除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平直条纹（等厚干涉）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0" y="3383280"/>
            <a:ext cx="0" cy="109728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核心原理(3)：形态判据与物理图像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371600" cy="36576"/>
          </a:xfrm>
          <a:prstGeom prst="rect">
            <a:avLst/>
          </a:prstGeom>
          <a:solidFill>
            <a:srgbClr val="CC223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8229600" cy="777240"/>
          </a:xfrm>
          <a:prstGeom prst="rect">
            <a:avLst/>
          </a:prstGeom>
          <a:solidFill>
            <a:srgbClr val="FDE8E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核心结论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条纹是圆环还是平直，唯一取决于 h 是否为零 —— 与绝对光程差的大小毫无关系。实验中用红光调出平直条纹，实质上是将 M1 调到 h = 0，即两虚光源在空间上重合。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057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0（参考状态）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37744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两虚光源几何重合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∂Δ/∂θ = 0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发散角影响消除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平直条纹（等厚）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此时若两镜面间存在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微小夹角（劈尖角 α），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偏离中心 x 处附加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光程差 = 2xα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96596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29000" y="2057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插入玻璃后（h ≠ 0）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237744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视深效应使虚像前移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∂Δ/∂θ ≠ 0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光程差随 θ 变化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同心圆环（等倾）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固定光程偏移 2d(n−1)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对所有 θ 都相同，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 ∂Δ/∂θ 毫无贡献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因此不改变条纹形态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96596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63640" y="2057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补偿后（h → 0）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63640" y="237744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M1 后退抵消视深位移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虚像重新几何重合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∂Δ/∂θ = 0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平直条纹恢复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注意：后退距离 Δx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纯粹是让虚像退回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0，完全不涉及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对固定光程偏移的补偿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红光原理(1)：插入玻璃的双重效应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371600" cy="36576"/>
          </a:xfrm>
          <a:prstGeom prst="rect">
            <a:avLst/>
          </a:prstGeom>
          <a:solidFill>
            <a:srgbClr val="CC223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在未插玻璃时 h = 0，虚像重合与光程相等两个条件自然同时满足。垂直插入厚度 d、折射率 n 的厚玻璃板后，玻璃对光同时产生两种效应：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效应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机制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对 Δ(θ) 的影响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对 ∂Δ/∂θ 的影响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减速效应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光在玻璃中速度变慢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追加固定偏移 2d(n−1)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为零（常数求导）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C2233"/>
                          </a:solidFill>
                        </a:rPr>
                        <a:t>视深效应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折射使 M1 虚像位置前移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C2233"/>
                          </a:solidFill>
                        </a:rPr>
                        <a:t>改变 h（h 不再为 0）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C2233"/>
                          </a:solidFill>
                        </a:rPr>
                        <a:t>非零（h≠0）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2788920"/>
            <a:ext cx="8229600" cy="1371600"/>
          </a:xfrm>
          <a:prstGeom prst="rect">
            <a:avLst/>
          </a:prstGeom>
          <a:solidFill>
            <a:srgbClr val="FDE8E8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834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关键洞察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310896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玻璃引入的固定光程偏移 2d(n−1) 对所有 θ 都相同，对 ∂Δ/∂θ 毫无贡献，因此不改变条纹形态。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激光的相干长度长达数十厘米，这个固定偏移完全在其容忍范围内——即便绝对光程差已远非零，激光仍能保持清晰干涉。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而视深效应则完全不同：它直接破坏了 h = 0 的条件，使 ∂Δ/∂θ 不再为零，条纹从平直退化为同心圆环。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红光原理(2)：视深效应与补偿推导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371600" cy="36576"/>
          </a:xfrm>
          <a:prstGeom prst="rect">
            <a:avLst/>
          </a:prstGeom>
          <a:solidFill>
            <a:srgbClr val="CC223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40233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97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视深效应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在近垂直入射条件下透过厚玻璃看 M1，其虚像会向观察者方向（分光板 G₁ 方向）跃迁前移：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3657600" cy="4114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39112"/>
            <a:ext cx="3474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i="1" dirty="0">
                <a:solidFill>
                  <a:srgbClr val="CC22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Δx' = d(1 − 1/n)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这直接破坏了 h = 0 的条件——两虚光源在几何上重新分离，∂Δ/∂θ 不再为零，条纹从平直退化为同心圆环。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51560"/>
            <a:ext cx="40233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097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补偿逻辑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4173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条纹形态只取决于 h，要恢复平直条纹只需让 h 重新归零。加玻璃使 M1 的虚像前移了 Δx'，因此在物理空间中把 M1 向后（远离分光板方向）移动同样的距离 Δx：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2103120"/>
            <a:ext cx="3657600" cy="3657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217627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i="1" dirty="0">
                <a:solidFill>
                  <a:srgbClr val="1E293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Δx = Δx' = d(1 − 1/n)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560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注意：此移动完全不涉及对固定光程偏移 2d(n−1) 的补偿——激光的相干长度远大于该偏移量。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solidFill>
            <a:srgbClr val="FDE8E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337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折射率公式推导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611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 Δx = d(1 − 1/n)，整理：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3337560"/>
            <a:ext cx="3200400" cy="12344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1" name="Text 19"/>
          <p:cNvSpPr/>
          <p:nvPr/>
        </p:nvSpPr>
        <p:spPr>
          <a:xfrm>
            <a:off x="3291840" y="3410712"/>
            <a:ext cx="301752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Δx = d − d/n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d/n = d − Δx</a:t>
            </a:r>
            <a:pPr indent="0" marL="0">
              <a:lnSpc>
                <a:spcPct val="125000"/>
              </a:lnSpc>
              <a:buNone/>
            </a:pPr>
            <a:r>
              <a:rPr lang="en-US" sz="1600" b="1" i="1" dirty="0">
                <a:solidFill>
                  <a:srgbClr val="CC22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 = d / (d − Δx)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75120" y="3840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这就是红光实验中折射率的计算公式。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白光原理(1)：零光程差约束与光程跳变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371600" cy="36576"/>
          </a:xfrm>
          <a:prstGeom prst="rect">
            <a:avLst/>
          </a:prstGeom>
          <a:solidFill>
            <a:srgbClr val="CC223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40233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97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白光的「光程极零」强制约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白光属于宽频带复色光，各色波长干涉条纹相互错位中和，相干长度仅微米量级。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核心要求：两臂光程的绝对差值趋近于零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只有当各色条纹在视场中心同相位叠加，即 OPD ≈ 0 时，才能在中心区域观察到少量彩色干涉条纹。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0233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097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插入玻片引发的单向光程延长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417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光束两次穿过厚度 d 的玻璃片（射入并经动镜反射折返），该臂的总光程跳变为：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1920240"/>
            <a:ext cx="3657600" cy="4114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993392"/>
            <a:ext cx="3474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i="1" dirty="0">
                <a:solidFill>
                  <a:srgbClr val="D4A01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Δ(OPD) = 2d(n−1)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24231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推导：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单程光程增量 = nd − d = d(n−1)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往返总增量 = 2d(n−1)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这一跳变远超白光的相干长度，使原有的彩色条纹迅速消失。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6118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重要细节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886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白光补偿仅恢复了 OPD ≈ 0，并未同时使两虚光源的间距 h 归零。残留 h = Δx − d(1−1/n) = d(n−2+1/n)，对 d=0.3mm、n≈1.57 约为 0.06mm。此残留间距使 Δ(θ) 随 θ 变化极为缓慢——视场内光程差变化不足半个波长——因此条纹曲率极小，在劈尖角主导下呈现近似平行的彩色外观。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白光原理(2)：补偿动作与折射率推导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371600" cy="36576"/>
          </a:xfrm>
          <a:prstGeom prst="rect">
            <a:avLst/>
          </a:prstGeom>
          <a:solidFill>
            <a:srgbClr val="CC223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40233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97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补偿动作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要使 OPD 重新归零以重现彩色条纹，须在物理上缩短该臂的光程。将 M1 向分光板方向推进（即靠近），在空气段消去冗余距离。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设移动距离为 Δx，对应的物理光程减少量为 2Δx，由光程补偿守恒条件：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468880"/>
            <a:ext cx="3657600" cy="4114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542032"/>
            <a:ext cx="3474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i="1" dirty="0">
                <a:solidFill>
                  <a:srgbClr val="D4A01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2Δx = 2d(n−1)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971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化简即得折射率公式：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246120"/>
            <a:ext cx="3657600" cy="41148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319272"/>
            <a:ext cx="3474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b="1" i="1" dirty="0">
                <a:solidFill>
                  <a:srgbClr val="D4A01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 = 1 + Δx / 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051560"/>
            <a:ext cx="40233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1097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物理验证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141732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该结论与低相干光源「零光程差」条件一致，也与白光彩条仅在 OPD ≈ 0 附近出现的事实相符。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关键区别：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红光：只补偿虚像位移（几何条件 h=0）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白光：只补偿光程跳变（OPD=0）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两种光源对干涉条件的「选择性」不同，导致了完全相反的补偿方向。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37947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补偿方向对比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114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红光：M1 远离分光板 ← | 白光：M1 靠近分光板 →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4114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两种操作方向完全相反的现象看似矛盾，实则是不同光源对干涉条件的「选择性」不同所致。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原理对比与玻璃厚度选择的物理必然性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371600" cy="36576"/>
          </a:xfrm>
          <a:prstGeom prst="rect">
            <a:avLst/>
          </a:prstGeom>
          <a:solidFill>
            <a:srgbClr val="CC223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78638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00400"/>
                <a:gridCol w="32004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红光实验</a:t>
                      </a:r>
                      <a:endParaRPr lang="en-US" sz="11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白光实验</a:t>
                      </a:r>
                      <a:endParaRPr lang="en-US" sz="11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01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物理机制</a:t>
                      </a:r>
                      <a:endParaRPr lang="en-US" sz="10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视深效应 → 虚像位移</a:t>
                      </a:r>
                      <a:endParaRPr lang="en-US" sz="10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光程跳变 → OPD补偿</a:t>
                      </a:r>
                      <a:endParaRPr lang="en-US" sz="10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M1 移动方向</a:t>
                      </a:r>
                      <a:endParaRPr lang="en-US" sz="10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C2233"/>
                          </a:solidFill>
                        </a:rPr>
                        <a:t>远离分光板 ←</a:t>
                      </a:r>
                      <a:endParaRPr lang="en-US" sz="10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017"/>
                          </a:solidFill>
                        </a:rPr>
                        <a:t>→ 靠近分光板</a:t>
                      </a:r>
                      <a:endParaRPr lang="en-US" sz="10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玻璃厚度</a:t>
                      </a:r>
                      <a:endParaRPr lang="en-US" sz="10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 mm（厚）</a:t>
                      </a:r>
                      <a:endParaRPr lang="en-US" sz="10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0.3 mm（薄）</a:t>
                      </a:r>
                      <a:endParaRPr lang="en-US" sz="10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折射率公式</a:t>
                      </a:r>
                      <a:endParaRPr lang="en-US" sz="10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CC2233"/>
                          </a:solidFill>
                        </a:rPr>
                        <a:t>n = d/(d−Δx)</a:t>
                      </a:r>
                      <a:endParaRPr lang="en-US" sz="10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D4A017"/>
                          </a:solidFill>
                        </a:rPr>
                        <a:t>n = 1+Δx/d</a:t>
                      </a:r>
                      <a:endParaRPr lang="en-US" sz="10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关键约束</a:t>
                      </a:r>
                      <a:endParaRPr lang="en-US" sz="10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h = 0（几何条件）</a:t>
                      </a:r>
                      <a:endParaRPr lang="en-US" sz="10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OPD ≈ 0（相干条件）</a:t>
                      </a:r>
                      <a:endParaRPr lang="en-US" sz="10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玻璃厚度选择的物理必然性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3832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激光实验（d = 7mm）：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虚像位移 Δx' = 7×(1−1/1.5) ≈ 2.33 mm，千分尺上 2mm 量级位移易于精确读取。玻璃越厚信号越大，且激光不在乎相伴的固定光程偏移——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厚玻璃在激光实验中纯属优势。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54880" y="33832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白光实验（d = 0.3mm）：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 跳变 = 2×0.3×0.5 = 0.3 mm，补偿位移 ≈ 0.15 mm，仍在可追踪范围。若用 7mm 厚玻璃，OPD 跳变将达 7mm 量级——远超白光微米级相干长度，实验上几乎不可能重新捕捉彩色条纹。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白光实验的玻璃必须薄到让 OPD 跳变不超出可操作范围。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数据处理：红光实验（He-Ne 激光）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371600" cy="36576"/>
          </a:xfrm>
          <a:prstGeom prst="rect">
            <a:avLst/>
          </a:prstGeom>
          <a:solidFill>
            <a:srgbClr val="CC223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40233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原始数据（d = 7.0 mm）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36576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188720"/>
                <a:gridCol w="1188720"/>
                <a:gridCol w="118872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次数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d₀ (mm)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d₁ (mm)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Δxᵢ (mm)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54.32107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57.11739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C2233"/>
                          </a:solidFill>
                        </a:rPr>
                        <a:t>2.79632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54.28965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57.09380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C2233"/>
                          </a:solidFill>
                        </a:rPr>
                        <a:t>2.80415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54.35782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57.14769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C2233"/>
                          </a:solidFill>
                        </a:rPr>
                        <a:t>2.78987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2331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平均值 Δx̄ = 2.79678 mm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63440" y="1051560"/>
            <a:ext cx="40233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846320" y="1097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计算过程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846320" y="141732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样本标准差：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sΔx = 0.00716 mm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A类标准不确定度：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u(Δx̄) = sΔx / √3 = 0.00413 mm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 n = d/(d−Δx) 得：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n红 = 7.0 / (7.0−2.79678) ≈ 1.6655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不确定度传播：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u(n) = |∂n/∂Δx|·u(Δx̄) = d/(d−Δx̄)² · u(Δx̄)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u(n红) ≈ 0.0016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3246120"/>
            <a:ext cx="8229600" cy="1051560"/>
          </a:xfrm>
          <a:prstGeom prst="rect">
            <a:avLst/>
          </a:prstGeom>
          <a:solidFill>
            <a:srgbClr val="FDE8E8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3291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红光实验结果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200400" y="3291840"/>
            <a:ext cx="3657600" cy="914400"/>
          </a:xfrm>
          <a:prstGeom prst="rect">
            <a:avLst/>
          </a:prstGeom>
          <a:solidFill>
            <a:srgbClr val="FDE8E8"/>
          </a:solidFill>
          <a:ln/>
        </p:spPr>
      </p:sp>
      <p:sp>
        <p:nvSpPr>
          <p:cNvPr id="15" name="Text 12"/>
          <p:cNvSpPr/>
          <p:nvPr/>
        </p:nvSpPr>
        <p:spPr>
          <a:xfrm>
            <a:off x="3291840" y="3364992"/>
            <a:ext cx="3474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b="1" i="1" dirty="0">
                <a:solidFill>
                  <a:srgbClr val="CC22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n红 = 1.6655 ± 0.0016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数据处理：白光实验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371600" cy="36576"/>
          </a:xfrm>
          <a:prstGeom prst="rect">
            <a:avLst/>
          </a:prstGeom>
          <a:solidFill>
            <a:srgbClr val="CC223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40233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原始数据（d = 0.3 mm）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36576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188720"/>
                <a:gridCol w="1188720"/>
                <a:gridCol w="118872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次数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d₀ (mm)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d₁ (mm)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Δxᵢ (mm)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51.94480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51.77279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4A017"/>
                          </a:solidFill>
                        </a:rPr>
                        <a:t>0.17201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51.93326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51.76271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4A017"/>
                          </a:solidFill>
                        </a:rPr>
                        <a:t>0.17055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51.95813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51.78424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4A017"/>
                          </a:solidFill>
                        </a:rPr>
                        <a:t>0.17389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2331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平均值 Δx̄ = 0.17215 mm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63440" y="1051560"/>
            <a:ext cx="40233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846320" y="1097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计算过程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846320" y="141732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样本标准差：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sΔx = 0.00168 mm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A类标准不确定度：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u(Δx̄) = sΔx / √3 = 0.00097 mm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 n = 1 + Δx/d 得：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n白 = 1 + 0.17215/0.3 ≈ 1.5738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不确定度传播：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u(n) = u(Δx̄) / d = 0.00097 / 0.3 ≈ 0.0032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u(n白) ≈ 0.0032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3246120"/>
            <a:ext cx="8229600" cy="105156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3291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白光实验结果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200400" y="3291840"/>
            <a:ext cx="3657600" cy="91440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15" name="Text 12"/>
          <p:cNvSpPr/>
          <p:nvPr/>
        </p:nvSpPr>
        <p:spPr>
          <a:xfrm>
            <a:off x="3291840" y="3364992"/>
            <a:ext cx="3474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b="1" i="1" dirty="0">
                <a:solidFill>
                  <a:srgbClr val="D4A01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n白 = 1.5738 ± 0.0032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误差分析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371600" cy="36576"/>
          </a:xfrm>
          <a:prstGeom prst="rect">
            <a:avLst/>
          </a:prstGeom>
          <a:solidFill>
            <a:srgbClr val="CC223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红光实验误差源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条纹判断误差：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「平直程度」依赖操作者主观判断，容易把「接近平直」当作「完全平直」。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千分尺读数误差：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M1 位移需反复微调，若读数时存在回差或视差，会直接影响 Δx 平均值。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玻璃板放置偏差：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若厚玻璃板未严格保持垂直入射，虚像位移不再只由厚度决定，引入系统偏差。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厚度测量误差：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玻璃厚度 d 偏差会按 n = d/(d−Δx) 被放大或缩小。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05156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白光实验误差源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相干条件更苛刻：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白光条纹只在极窄的 OPD≈0 区域出现，补偿位置更易受主观判断影响。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光源与对准不稳定：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稍有偏差就可能导致彩色条纹不清晰，影响 M1 最终停点。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薄片厚度偏差：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 = 0.3mm 较小，厚度标称值与实际值的微小偏差会按 n=1+Δx/d 被显著放大。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例如 d 偏差 0.02mm 即可导致 n 变化约 0.1。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82296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6118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总体判断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8862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n红 = 1.6655 ± 0.0016，n白 = 1.5738 ± 0.0032，两者均落在常见玻璃折射率范围内。微小差异可能来源于两块玻璃材质不同，也可能来自两种原理各自的系统偏差。两个实验从不同物理机制出发，均得到了量级合理的结果，相互印证了两种补偿逻辑（远离 vs 靠近）的正确性。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C22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结论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02920" cy="5029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005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红光实验结论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35331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插入厚玻璃板后需将 M1 远离分光板，以补偿视深效应并恢复等厚干涉的几何条件（h=0）。折射率公式 n = d/(d−Δx)，计算得 n红 = 1.6655 ± 0.0016。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502920" cy="5029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2194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白光实验结论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25420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插入薄玻璃片后需将 M1 向分光板方向移动，以补偿增加的光程差并回到 OPD ≈ 0。折射率公式 n = 1 + Δx/d，计算得 n白 = 1.5738 ± 0.0032。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502920" cy="5029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3383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方向差异的物理根源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37307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激光相干长度极长，只响应虚像间距 h（几何条件 ∂Δ/∂θ）；白光相干长度极短，只响应绝对光程差 OPD ≈ 0。两种光源对干涉条件的选择性不同，导致了完全相反的补偿方向。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C223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2801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谢谢！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2926080" y="2560320"/>
            <a:ext cx="3291840" cy="274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834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感谢聆听 · 欢迎提问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迈克尔逊干涉仪测折射率实验探究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迈克尔逊干涉仪测折射率实验探究</dc:title>
  <dc:subject>PptxGenJS Presentation</dc:subject>
  <dc:creator>实验探究答辩</dc:creator>
  <cp:lastModifiedBy>实验探究答辩</cp:lastModifiedBy>
  <cp:revision>1</cp:revision>
  <dcterms:created xsi:type="dcterms:W3CDTF">2026-06-04T15:42:54Z</dcterms:created>
  <dcterms:modified xsi:type="dcterms:W3CDTF">2026-06-04T15:42:54Z</dcterms:modified>
</cp:coreProperties>
</file>