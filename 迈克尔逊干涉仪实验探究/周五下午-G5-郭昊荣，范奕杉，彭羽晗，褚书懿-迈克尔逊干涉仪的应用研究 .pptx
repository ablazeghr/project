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3" r:id="rId5"/>
    <p:sldId id="274" r:id="rId6"/>
    <p:sldId id="277" r:id="rId7"/>
    <p:sldId id="260" r:id="rId8"/>
    <p:sldId id="261" r:id="rId9"/>
    <p:sldId id="276" r:id="rId10"/>
    <p:sldId id="275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7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0333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376D8-5766-9A99-C15B-440AFA338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E92B7-9F17-9494-B1C5-463BDB788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F166B-79C8-2E94-53E1-A520338C3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3D73A-03A8-EDBE-0F65-AA66D93457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03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迈克尔逊干涉仪</a:t>
            </a:r>
            <a:endParaRPr lang="en-US" sz="4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测折射率实验探究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答辩报告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828800" cy="27432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物理实验 · 迈克尔逊干涉仪 · 折射率测量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386E005-2A08-F152-F1E4-23DCCC8851C1}"/>
              </a:ext>
            </a:extLst>
          </p:cNvPr>
          <p:cNvSpPr/>
          <p:nvPr/>
        </p:nvSpPr>
        <p:spPr>
          <a:xfrm>
            <a:off x="731520" y="3502152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彭羽晗</a:t>
            </a:r>
            <a:r>
              <a:rPr lang="en-US" altLang="zh-CN" sz="1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12412155     </a:t>
            </a:r>
            <a:r>
              <a:rPr lang="zh-CN" altLang="en-US" sz="1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褚书懿</a:t>
            </a:r>
            <a:r>
              <a:rPr lang="en-US" altLang="zh-CN" sz="1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12513016     </a:t>
            </a:r>
            <a:r>
              <a:rPr lang="zh-CN" altLang="en-US" sz="1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讲解</a:t>
            </a:r>
            <a:endParaRPr lang="en-US" altLang="zh-CN" sz="1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sz="1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zh-CN" altLang="en-US" sz="1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范奕杉</a:t>
            </a:r>
            <a:r>
              <a:rPr lang="en-US" altLang="zh-CN" sz="1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12511746     </a:t>
            </a:r>
            <a:r>
              <a:rPr lang="zh-CN" altLang="en-US" sz="1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郭昊荣</a:t>
            </a:r>
            <a:r>
              <a:rPr lang="en-US" altLang="zh-CN" sz="1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12511217     PPT&amp;</a:t>
            </a:r>
            <a:r>
              <a:rPr lang="zh-CN" altLang="en-US" sz="1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报告</a:t>
            </a:r>
            <a:endParaRPr lang="en-US" altLang="zh-CN" sz="1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实验背景、目的与仪器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研究动机与实验配置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430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实验现象总览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 &amp; 白光两种实验流程与观测对比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4300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核心原理</a:t>
            </a:r>
            <a:r>
              <a:rPr lang="zh-CN" alt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探究</a:t>
            </a: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：形态判据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两虚点光源模型与 Δ(θ)≈2h cos 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123444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3492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红光原理：虚像位移补偿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4924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减速效应 vs 视深效应，补偿逻辑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34924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白光原理：零光程差补偿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4924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OPD≈0 约束与折射率推导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34290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34924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数据处理、误差分析与结论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4924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完整计算、误差讨论与最终结论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实验目的与仪器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320040" cy="320040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实验目的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用迈克尔逊干涉仪测量两种不同厚度与类型玻璃片的折射率。
</a:t>
            </a:r>
            <a:r>
              <a:rPr lang="en-US" sz="12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探究不同光源下插入玻璃片后，动镜 M1 移动方向差异的物理原因，并给出对应折射率计算公式。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280160"/>
            <a:ext cx="32004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54406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实验仪器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迈克尔逊干涉仪、氦氖激光器、短焦距透镜、扩束镜、毛玻璃片、白光光源、观察屏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822960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实验配置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154680"/>
            <a:ext cx="640080" cy="29260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154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光源 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17320" y="31546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37360" y="3154680"/>
            <a:ext cx="502920" cy="2926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1737360" y="31546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3154680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3154680"/>
            <a:ext cx="502920" cy="2926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0" y="31546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08960" y="31546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3154680"/>
            <a:ext cx="640080" cy="29260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154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M₂(定镜)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737360" y="3474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737360" y="3703320"/>
            <a:ext cx="502920" cy="2926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0" name="Text 28"/>
          <p:cNvSpPr/>
          <p:nvPr/>
        </p:nvSpPr>
        <p:spPr>
          <a:xfrm>
            <a:off x="1737360" y="37033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玻璃片 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37360" y="4023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37360" y="4251960"/>
            <a:ext cx="502920" cy="292608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33" name="Text 31"/>
          <p:cNvSpPr/>
          <p:nvPr/>
        </p:nvSpPr>
        <p:spPr>
          <a:xfrm>
            <a:off x="1737360" y="42519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M₁(动镜)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0" y="274320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元件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位置		说明
</a:t>
            </a:r>
            <a:r>
              <a:rPr lang="en-US" sz="9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M₁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上方垂直臂	可移动镜，沿垂直方向移动
</a:t>
            </a: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M₂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右侧水平臂	固定镜，位置不变
</a:t>
            </a: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G₁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左侧45°平板	分光板，半透半反
</a:t>
            </a: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G₂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右侧45°平板	补偿板，材质厚度同G₁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32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实验目的与仪器</a:t>
            </a:r>
            <a:endParaRPr lang="en-US" alt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19659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迈克尔逊干涉仪是精密光学测量的经典工具，利用双光束干涉原理实现高精度位移与折射率测量。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核心问题：在干涉仪一臂插入玻璃片后，条纹形态发生变化。不同光源（激光/白光）下，恢复条纹时动镜M1的移动方向居然相反——这一现象背后的物理本质是什么？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23444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417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实验目的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120640" y="19659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使用迈克尔逊干涉仪测量两种不同厚度与类型玻璃片的折射率。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探究不同光源下插入玻璃片后，动镜M1的移动方向差异及其物理原因，并给出对应折射率计算公式。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实验操作与现象 —— 红色激光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995374" y="1476756"/>
            <a:ext cx="457200" cy="457200"/>
          </a:xfrm>
          <a:prstGeom prst="ellipse">
            <a:avLst/>
          </a:prstGeom>
          <a:solidFill>
            <a:srgbClr val="CC2233"/>
          </a:solidFill>
          <a:ln/>
        </p:spPr>
      </p:sp>
      <p:sp>
        <p:nvSpPr>
          <p:cNvPr id="6" name="Text 4"/>
          <p:cNvSpPr/>
          <p:nvPr/>
        </p:nvSpPr>
        <p:spPr>
          <a:xfrm>
            <a:off x="995374" y="14898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28756" y="159813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3322" y="1993997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准直扩束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9360" y="236829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He-Ne激光 + 扩束镜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</a:t>
            </a:r>
            <a:r>
              <a:rPr lang="zh-CN" alt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近似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点光源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39403" y="146304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2639403" y="14202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81374" y="161961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94560" y="200658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调出条纹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82992" y="234507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微调M1/M2角度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出现同心圆环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86287" y="1564786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157635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75001" y="158849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63340" y="202655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参考状态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36624" y="237028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调至平行直条纹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记录d₀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06440" y="1553653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Text 19"/>
          <p:cNvSpPr/>
          <p:nvPr/>
        </p:nvSpPr>
        <p:spPr>
          <a:xfrm>
            <a:off x="5781652" y="15436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158174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20008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2330067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插入7mm厚玻璃板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条纹变回圆环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24818" y="1515783"/>
            <a:ext cx="457200" cy="457200"/>
          </a:xfrm>
          <a:prstGeom prst="ellipse">
            <a:avLst/>
          </a:prstGeom>
          <a:solidFill>
            <a:srgbClr val="CC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147708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19926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补偿调整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19948" y="22402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M1远离分光板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恢复平行条纹 → d₁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2926080"/>
            <a:ext cx="7863840" cy="109728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观测现象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3383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插入玻璃板后，条纹重新变成同心圆环；将 M1 向远离分光板方向移动，可重新找到清晰平行条纹。</a:t>
            </a:r>
            <a:endParaRPr lang="en-US" sz="13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020274"/>
            <a:ext cx="320040" cy="32004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914400" y="4160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折射率公式：</a:t>
            </a:r>
            <a:r>
              <a:rPr lang="en-US" sz="1400" b="1" i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d / (d − Δx)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其中 Δx 为 M1 远离分光板的位移量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96259CBD-D3AE-9F1A-3487-9A59A5073F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363" y="37447"/>
            <a:ext cx="3304910" cy="14162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实验操作与现象 —— 白色光源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23444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234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切换光源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 + 毛玻璃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形成扩展光源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23444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08960" y="1234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4028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寻迹条纹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缓慢移动M1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找到彩色条纹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123444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09160" y="1234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参考状态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条纹最清晰时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记录d₀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06440" y="123444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1" name="Text 19"/>
          <p:cNvSpPr/>
          <p:nvPr/>
        </p:nvSpPr>
        <p:spPr>
          <a:xfrm>
            <a:off x="58064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1234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插入0.3mm薄片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彩条消失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06640" y="123444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4088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补偿调整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M1靠近分光板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恢复彩条 → d₁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2926080"/>
            <a:ext cx="7863840" cy="10972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观测现象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338328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插入玻璃片后彩色条纹迅速消失；通过将 M1 向靠近分光板方向移动，可重新找到清晰彩色平行条纹。</a:t>
            </a:r>
            <a:endParaRPr lang="en-US" sz="13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820" y="3040380"/>
            <a:ext cx="320040" cy="32004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914400" y="4160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折射率公式：</a:t>
            </a:r>
            <a:r>
              <a:rPr lang="en-US" sz="14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 + Δx / d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其中 Δx 为 M1 靠近分光板的位移量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核心先导：两个必须区分的概念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3520440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光程差 Δ 本身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决定屏上某一点的亮暗（干涉级次）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插入玻璃后追加的固定偏移：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2d(n−1)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对所有 θ 都相同，求导后为零，不改变条纹形态。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39319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51560"/>
            <a:ext cx="73152" cy="35204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光程差随角度变化率 ∂Δ/∂θ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决定条纹的整体形态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  →  光程差在全屏均匀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平直条纹（等厚干涉）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0  →  光程差随 θ 变化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同心圆环（等倾干涉）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这一区分是理解「为何激光实验条纹形态与绝对光程差无关」的钥匙。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核心原理</a:t>
            </a:r>
            <a:r>
              <a:rPr lang="zh-CN" alt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探究</a:t>
            </a: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：两虚点光源模型与 Δ(θ)≈2h cosθ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关键推导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两虚光源 S₁、S₂ 沿光轴相距 2h，屏距为 L（L ≫ 2h）。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精确光程差：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分子有理化 + 近似（L ≫ 2h，略去 4h²）：</a:t>
            </a:r>
            <a:endParaRPr lang="en-US" sz="5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3749040" cy="36576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620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CC22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Δ(θ) ≈ 2h · L/√(L²+ρ²) = 2h cosθ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总光程差（含劈尖角 α）：</a:t>
            </a:r>
            <a:endParaRPr lang="en-US" sz="5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3749040" cy="320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9359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Δ总(θ) ≈ 2h cosθ + 2xα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→ 0 时，Δ总 ≈ 2xα，平直条纹由劈尖角主导。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39319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示意图</a:t>
            </a:r>
            <a:endParaRPr lang="en-US" sz="1400" dirty="0"/>
          </a:p>
        </p:txBody>
      </p:sp>
      <p:pic>
        <p:nvPicPr>
          <p:cNvPr id="19" name="Image 0" descr="d:/project/迈克尔逊干涉仪实验探究/文件2/interfere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1463040"/>
            <a:ext cx="3749040" cy="20116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937760" y="3566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S₁: 虚光源₁ (M₁臂)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S₂: 虚光源₂ (M₂臂)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 时两虚光源重合 → 平直条纹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36E7BA7-86DF-BEFD-A655-7103B8888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785" y="2050436"/>
            <a:ext cx="2832317" cy="2995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BDC9C-4792-6C18-9576-83F6D73B0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491F49-F598-A1C4-1FE4-A5A302E00660}"/>
              </a:ext>
            </a:extLst>
          </p:cNvPr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核心原理：形态判据与物理图像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3E0DEF7-9DDB-0F1D-9FB9-9FB29E93B2DD}"/>
              </a:ext>
            </a:extLst>
          </p:cNvPr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843AF3D-5EBF-D59A-ABAB-632E7F90E19B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8C58625-4A3A-A0A6-FDD1-5F18B9A6CB43}"/>
              </a:ext>
            </a:extLst>
          </p:cNvPr>
          <p:cNvSpPr/>
          <p:nvPr/>
        </p:nvSpPr>
        <p:spPr>
          <a:xfrm>
            <a:off x="470427" y="744755"/>
            <a:ext cx="8229600" cy="120797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441AD1-A93D-EACC-1BE5-B0F4F3ACAF40}"/>
              </a:ext>
            </a:extLst>
          </p:cNvPr>
          <p:cNvSpPr/>
          <p:nvPr/>
        </p:nvSpPr>
        <p:spPr>
          <a:xfrm>
            <a:off x="470427" y="71527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核心结论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C3C029-4F42-7978-D190-5451B873D1D1}"/>
              </a:ext>
            </a:extLst>
          </p:cNvPr>
          <p:cNvSpPr/>
          <p:nvPr/>
        </p:nvSpPr>
        <p:spPr>
          <a:xfrm>
            <a:off x="510018" y="1545131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条纹是圆环还是平直，唯一取决于 h 是否为零 —— 与绝对光程差的大小毫无关系。实验中用红光调出平直条纹，实质上是将 M1 调到 h = 0，即两虚光源在空间上重合。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5701785-0781-7161-ADA0-EBE0AE9E5B8A}"/>
              </a:ext>
            </a:extLst>
          </p:cNvPr>
          <p:cNvSpPr/>
          <p:nvPr/>
        </p:nvSpPr>
        <p:spPr>
          <a:xfrm>
            <a:off x="457200" y="1965960"/>
            <a:ext cx="265176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D801D52-173F-D01D-020F-239BD3EAA5A4}"/>
              </a:ext>
            </a:extLst>
          </p:cNvPr>
          <p:cNvSpPr/>
          <p:nvPr/>
        </p:nvSpPr>
        <p:spPr>
          <a:xfrm>
            <a:off x="59436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0（参考状态）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70CF8DB-FCE6-49B5-5F71-AD26D7D8228B}"/>
              </a:ext>
            </a:extLst>
          </p:cNvPr>
          <p:cNvSpPr/>
          <p:nvPr/>
        </p:nvSpPr>
        <p:spPr>
          <a:xfrm>
            <a:off x="526983" y="2253515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两虚光源几何重合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∂Δ/∂θ = 0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发散角影响消除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平直条纹（等厚）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此时若两镜面间存在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微小夹角（劈尖角 α），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偏离中心 x 处附加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光程差 = 2xα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572CE93-9C0E-FD41-86B6-D05803DDAD32}"/>
              </a:ext>
            </a:extLst>
          </p:cNvPr>
          <p:cNvSpPr/>
          <p:nvPr/>
        </p:nvSpPr>
        <p:spPr>
          <a:xfrm>
            <a:off x="3291840" y="201168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7ABB9D4-3A8B-E9C6-6BFF-CDF7F0D03C16}"/>
              </a:ext>
            </a:extLst>
          </p:cNvPr>
          <p:cNvSpPr/>
          <p:nvPr/>
        </p:nvSpPr>
        <p:spPr>
          <a:xfrm>
            <a:off x="342900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插入玻璃后（h ≠ 0）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7E5A15B-2FF6-047B-C652-DF3A3E456527}"/>
              </a:ext>
            </a:extLst>
          </p:cNvPr>
          <p:cNvSpPr/>
          <p:nvPr/>
        </p:nvSpPr>
        <p:spPr>
          <a:xfrm>
            <a:off x="3429000" y="22860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视深效应使虚像前移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∂Δ/∂θ ≠ 0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光程差随 θ 变化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同心圆环（等倾）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固定光程偏移 2d(n−1)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对所有 θ 都相同，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 ∂Δ/∂θ 毫无贡献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因此不改变条纹形态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BE6B12B-C0EB-5BDE-4106-39095A42BFB1}"/>
              </a:ext>
            </a:extLst>
          </p:cNvPr>
          <p:cNvSpPr/>
          <p:nvPr/>
        </p:nvSpPr>
        <p:spPr>
          <a:xfrm>
            <a:off x="6126480" y="1998444"/>
            <a:ext cx="2651760" cy="220779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F205AD2-5E68-BBCE-E65D-A0306F4B83D6}"/>
              </a:ext>
            </a:extLst>
          </p:cNvPr>
          <p:cNvSpPr/>
          <p:nvPr/>
        </p:nvSpPr>
        <p:spPr>
          <a:xfrm>
            <a:off x="626364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补偿后（h → 0）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AAEB7E0-03A1-269D-BA0D-00C5736619F4}"/>
              </a:ext>
            </a:extLst>
          </p:cNvPr>
          <p:cNvSpPr/>
          <p:nvPr/>
        </p:nvSpPr>
        <p:spPr>
          <a:xfrm>
            <a:off x="6263640" y="22860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M1 后退抵消视深位移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虚像重新几何重合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∂Δ/∂θ = 0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平直条纹恢复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注意：后退距离 Δx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纯粹是让虚像退回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0，完全不涉及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对固定光程偏移的补偿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6027840-533A-BA7A-84CB-91AD7C5FB291}"/>
              </a:ext>
            </a:extLst>
          </p:cNvPr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0" descr="d:/project/迈克尔逊干涉仪实验探究/f4052a3a-3c7f-49b1-8fa6-93036d5ef15b.png">
            <a:extLst>
              <a:ext uri="{FF2B5EF4-FFF2-40B4-BE49-F238E27FC236}">
                <a16:creationId xmlns:a16="http://schemas.microsoft.com/office/drawing/2014/main" id="{E30AA618-9114-8CC8-6C2D-CB1D9AC3B3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3846" y="4061671"/>
            <a:ext cx="1759057" cy="941250"/>
          </a:xfrm>
          <a:prstGeom prst="rect">
            <a:avLst/>
          </a:prstGeom>
        </p:spPr>
      </p:pic>
      <p:sp>
        <p:nvSpPr>
          <p:cNvPr id="19" name="Text 16">
            <a:extLst>
              <a:ext uri="{FF2B5EF4-FFF2-40B4-BE49-F238E27FC236}">
                <a16:creationId xmlns:a16="http://schemas.microsoft.com/office/drawing/2014/main" id="{B0636D96-7DAF-DDD7-2A42-105FDF1C2421}"/>
              </a:ext>
            </a:extLst>
          </p:cNvPr>
          <p:cNvSpPr/>
          <p:nvPr/>
        </p:nvSpPr>
        <p:spPr>
          <a:xfrm>
            <a:off x="2377440" y="4389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劈尖干涉示意图：h→0 时，平直条纹由劈尖角 α 主导，偏离中心 x 处附加光程差 2xα。</a:t>
            </a:r>
            <a:endParaRPr lang="en-US" sz="10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5ED8FB1-0CF6-3A0B-240D-5732869E25E6}"/>
              </a:ext>
            </a:extLst>
          </p:cNvPr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88F6D2AF-0096-BAFB-DB36-92CDB1B10F4A}"/>
              </a:ext>
            </a:extLst>
          </p:cNvPr>
          <p:cNvSpPr/>
          <p:nvPr/>
        </p:nvSpPr>
        <p:spPr>
          <a:xfrm>
            <a:off x="1371600" y="883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光程差 Δ 本身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决定亮暗（干涉级次）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∂Δ/∂θ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决定条纹形态：=0为平直条纹，≠0为同心圆环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04654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原理一：红光实验 —— 虚像位移补偿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930980"/>
            <a:ext cx="402336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52959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插入玻璃的双重效应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94360" y="1287596"/>
          <a:ext cx="3474720" cy="9956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效应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机制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对 ∂Δ/∂θ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减速效应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光速变慢→固定光程偏移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零（常数求导）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C2233"/>
                          </a:solidFill>
                        </a:rPr>
                        <a:t>视深效应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折射→M1虚像前移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C2233"/>
                          </a:solidFill>
                        </a:rPr>
                        <a:t>非零（h≠0）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67681" y="952959"/>
            <a:ext cx="4708058" cy="2035421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6"/>
          <p:cNvSpPr/>
          <p:nvPr/>
        </p:nvSpPr>
        <p:spPr>
          <a:xfrm>
            <a:off x="4297680" y="101741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补偿逻辑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06240" y="1455063"/>
            <a:ext cx="3291840" cy="1633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虚像前移量：Δx' = d(1 − 1/n)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M1 向后移动相同距离 Δx = Δx'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 重新归零 → 平直条纹恢复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n = d / (d − Δx)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267603"/>
            <a:ext cx="7863840" cy="1371600"/>
          </a:xfrm>
          <a:prstGeom prst="rect">
            <a:avLst/>
          </a:prstGeom>
          <a:solidFill>
            <a:srgbClr val="FDE8E8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95925" y="4013720"/>
            <a:ext cx="7507995" cy="312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玻璃引入的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固定光程偏移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2d(n−1) </a:t>
            </a:r>
            <a:r>
              <a:rPr lang="zh-CN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对所有</a:t>
            </a:r>
            <a:r>
              <a:rPr lang="el-GR" altLang="zh-CN" sz="1200" dirty="0"/>
              <a:t>θ</a:t>
            </a:r>
            <a:r>
              <a:rPr lang="zh-CN" altLang="en-US" sz="1200" dirty="0"/>
              <a:t>相同，</a:t>
            </a:r>
            <a:r>
              <a:rPr lang="zh-CN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不改变条纹形态。</a:t>
            </a:r>
            <a:r>
              <a:rPr lang="en-US" altLang="zh-C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激光相干长度极长（数十厘米</a:t>
            </a:r>
            <a:r>
              <a:rPr lang="en-US" altLang="zh-CN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），</a:t>
            </a:r>
            <a:r>
              <a:rPr lang="zh-CN" altLang="en-US" sz="1200" dirty="0"/>
              <a:t> 这个固定偏移在容忍范围内，即便绝对光程差已远非零，激光能保持清晰干涉。</a:t>
            </a:r>
            <a:endParaRPr lang="en-US" altLang="zh-CN" sz="1200" dirty="0"/>
          </a:p>
          <a:p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条纹形态只响应于虚像间距 h 的变化。M1 后退纯粹是为了让虚像在几何上退回 h=0，完全无关光程差补偿。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F048079-82E4-8ADB-539E-A0495099E93C}"/>
              </a:ext>
            </a:extLst>
          </p:cNvPr>
          <p:cNvSpPr txBox="1"/>
          <p:nvPr/>
        </p:nvSpPr>
        <p:spPr>
          <a:xfrm>
            <a:off x="594360" y="2336432"/>
            <a:ext cx="3703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600" dirty="0"/>
              <a:t>固定光程偏移改变不了条纹形态，虚像位移才是决定形态的唯一因素。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白光原理：零光程差约束与补偿推导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白光的「光程极零」强制约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白光属宽频带复色光，相干长度仅微米量级。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核心要求：OPD ≈ 0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OPD 不近零，视场中根本不存在任何条纹，讨论形态无从谈起。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插入玻片引发的光程跳变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光束两次穿过厚度 d 的玻璃片，该臂总光程跳变：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874520"/>
            <a:ext cx="365760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947672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D4A01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Δ(OPD) = 2d(n−1)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331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推导：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单程光程增量 = nd − d = d(n−1)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往返总增量 = 2d(n−1)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这一跳变远超白光相干长度，彩色条纹迅速消失。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11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补偿推导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向分光板方向推进 Δx → 光程减少 2Δx。由补偿守恒：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611880"/>
            <a:ext cx="2286000" cy="4572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6850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D4A01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2Δx = 2d(n−1)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3611880"/>
            <a:ext cx="1371600" cy="4572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36850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D4A01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 = 1 + Δx / 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白光仅要求 OPD≈0，不要求 h=0。补偿后残留 h≈0.06mm，条纹曲率极小，近似平行。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D0DFFED-3067-B76D-246D-14FB6C005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345" y="274320"/>
            <a:ext cx="1778803" cy="126187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795655C-2285-40E2-6A22-CF80369C7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3" y="2482783"/>
            <a:ext cx="4397277" cy="9780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原理对比与玻璃厚度选择的物理必然性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16916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红光实验</a:t>
                      </a:r>
                      <a:endParaRPr lang="en-US" sz="11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白光实验</a:t>
                      </a:r>
                      <a:endParaRPr lang="en-US" sz="11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物理机制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视深效应 → 虚像位移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光程跳变 → OPD补偿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M1 移动方向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C2233"/>
                          </a:solidFill>
                        </a:rPr>
                        <a:t>远离分光板 ←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4A017"/>
                          </a:solidFill>
                        </a:rPr>
                        <a:t>→ 靠近分光板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玻璃厚度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 mm（厚）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0.3 mm（薄）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折射率公式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CC2233"/>
                          </a:solidFill>
                        </a:rPr>
                        <a:t>n = d/(d−Δx)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D4A017"/>
                          </a:solidFill>
                        </a:rPr>
                        <a:t>n = 1+Δx/d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关键约束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 = 0（几何条件）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OPD ≈ 0（相干条件）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玻璃厚度选择的物理必然性</a:t>
            </a:r>
            <a:r>
              <a:rPr lang="zh-CN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（假设</a:t>
            </a:r>
            <a:r>
              <a:rPr lang="en-US" altLang="zh-CN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n=1.5</a:t>
            </a:r>
            <a:r>
              <a:rPr lang="zh-CN" alt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便于计算）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激光实验（d = 7mm）：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虚像位移 Δx' = 7×(1−1/1.5) ≈ 2.33 mm，千分尺上 2mm 量级位移易于精确读取。玻璃越厚信号越大，且激光不在乎相伴的固定光程偏移——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厚玻璃在激光实验中纯属优势。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3383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白光实验（d = 0.3mm）：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跳变 = 2×0.3×0.5 = 0.3 mm，补偿位移 ≈ 0.15 mm，仍在可追踪范围。若用 7mm 厚玻璃，OPD 跳变将达 7mm 量级——远超白光微米级相干长度，实验上几乎不可能重新捕捉彩色条纹。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白光实验的玻璃必须薄到让 OPD 跳变不超出可操作范围。</a:t>
            </a:r>
            <a:endParaRPr lang="en-US" sz="1100" dirty="0"/>
          </a:p>
        </p:txBody>
      </p:sp>
      <p:sp>
        <p:nvSpPr>
          <p:cNvPr id="6" name="Text 8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数据处理：红光实验（He-Ne 激光）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原始数据（d = 7.0 mm）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260478"/>
              </p:ext>
            </p:extLst>
          </p:nvPr>
        </p:nvGraphicFramePr>
        <p:xfrm>
          <a:off x="418699" y="1389888"/>
          <a:ext cx="4206240" cy="102412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次数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d₀ (mm)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d₁ (mm)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Δxᵢ (mm)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54.32107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57.11739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C2233"/>
                          </a:solidFill>
                        </a:rPr>
                        <a:t>2.79632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54.28965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57.09380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C2233"/>
                          </a:solidFill>
                        </a:rPr>
                        <a:t>2.80415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54.35782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57.14769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C2233"/>
                          </a:solidFill>
                        </a:rPr>
                        <a:t>2.78987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01579" y="24443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平均值 Δx̄ = 2.79678 mm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05156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计算过程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14173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样本标准差：s_Δx = 0.00716 mm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A类标准不确定度：u(Δx̄) = s_Δx / √3 = 0.00413 mm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n = d/(d−Δx) 得：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n_红 = 7.0 / (7.0−2.79678) ≈ 1.6655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不确定度传播：u(n) = |∂n/∂Δx|·u(Δx̄) = d/(d−Δx̄)² · u(Δx̄)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u(n_红) ≈ 0.0016</a:t>
            </a:r>
            <a:endParaRPr lang="en-US" sz="1000" dirty="0"/>
          </a:p>
        </p:txBody>
      </p:sp>
      <p:sp>
        <p:nvSpPr>
          <p:cNvPr id="7" name="Shape 9"/>
          <p:cNvSpPr/>
          <p:nvPr/>
        </p:nvSpPr>
        <p:spPr>
          <a:xfrm>
            <a:off x="457200" y="3246120"/>
            <a:ext cx="8229600" cy="105156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红光实验结果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00400" y="3291840"/>
            <a:ext cx="365760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3364992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b="1" i="1" dirty="0">
                <a:solidFill>
                  <a:srgbClr val="CC22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n_红 = 1.6655 ± 0.0016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数据处理：白光实验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原始数据（d = 0.3 mm）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409230"/>
              </p:ext>
            </p:extLst>
          </p:nvPr>
        </p:nvGraphicFramePr>
        <p:xfrm>
          <a:off x="418699" y="1417320"/>
          <a:ext cx="4023361" cy="1024128"/>
        </p:xfrm>
        <a:graphic>
          <a:graphicData uri="http://schemas.openxmlformats.org/drawingml/2006/table">
            <a:tbl>
              <a:tblPr/>
              <a:tblGrid>
                <a:gridCol w="61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次数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d₀ (mm)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d₁ (mm)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Δxᵢ (mm)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51.94480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51.77279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4A017"/>
                          </a:solidFill>
                        </a:rPr>
                        <a:t>0.17201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51.93326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51.76271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4A017"/>
                          </a:solidFill>
                        </a:rPr>
                        <a:t>0.17055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51.95813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51.78424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4A017"/>
                          </a:solidFill>
                        </a:rPr>
                        <a:t>0.17389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245745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平均值 Δx̄ = 0.17215 mm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05156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计算过程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14173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样本标准差：s_Δx ≈ 0.00168 mm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A类标准不确定度：u(Δx̄) = s_Δx / √3 ≈ 0.00097 mm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n = 1 + Δx/d 得：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n_白 = 1 + 0.17215/0.3 ≈ 1.5738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不确定度传播：u(n) = u(Δx̄) / d ≈ 0.00097 / 0.3 ≈ 0.0032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u(n_白) ≈ 0.0032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8229600" cy="105156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7" name="Text 10"/>
          <p:cNvSpPr/>
          <p:nvPr/>
        </p:nvSpPr>
        <p:spPr>
          <a:xfrm>
            <a:off x="64008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白光实验结果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00400" y="3291840"/>
            <a:ext cx="3657600" cy="9144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3364992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b="1" i="1" dirty="0">
                <a:solidFill>
                  <a:srgbClr val="D4A01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n_白 = 1.5738 ± 0.0032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误差分析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红光实验误差源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条纹判断误差：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「平直程度」依赖主观判断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千分尺读数误差：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回差或视差影响 Δx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玻璃板放置偏差：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未严格垂直入射 → 系统偏差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厚度 d 测量误差：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 偏差会被公式放大或缩小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白光实验误差源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相干条件更苛刻：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条纹消失/重现判定更敏感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光源对准不稳：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扩展光源偏差 → 彩条不清晰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薄片厚度偏差：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d仅0.3mm, 微小偏差被显著放大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例如 d 偏差 0.02mm 即可导致 n 变化约 0.1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611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总体判断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n_红 = 1.6655 ± 0.0016，n_白 = 1.5738 ± 0.0032，两者均落在常见玻璃折射率范围内。微小差异可能来源于两块玻璃材质不同，也可能来自两种原理各自的系统偏差。两个实验从不同物理机制出发，均得到了量级合理的结果，相互印证了两种补偿逻辑（远离 vs 靠近）的正确性。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红光实验结论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3533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插入厚玻璃板后需将 M1 远离分光板，以补偿视深效应并恢复等厚干涉的几何条件（h=0）。折射率公式 n = d/(d−Δx)，计算得 n_红 = 1.6655 ± 0.0016。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白光实验结论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542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插入薄玻璃片后需将 M1 向分光板方向移动，以补偿增加的光程差并回到 OPD ≈ 0。折射率公式 n = 1 + Δx/d，计算得 n_白 = 1.5738 ± 0.0032。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方向差异的物理根源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7307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激光相干长度极长，只响应虚像间距 h（几何条件 ∂Δ/∂θ）；白光相干长度极短，只响应绝对光程差 OPD ≈ 0。两种光源对干涉条件的选择性不同，导致了完全相反的补偿方向。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谢谢！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2926080" y="2560320"/>
            <a:ext cx="329184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845389" y="35890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</a:rPr>
              <a:t>参考资料</a:t>
            </a:r>
            <a:r>
              <a:rPr lang="zh-CN" altLang="en-US" dirty="0">
                <a:solidFill>
                  <a:schemeClr val="bg1"/>
                </a:solidFill>
              </a:rPr>
              <a:t>（依据原理部分整理）：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Born &amp; Wolf, </a:t>
            </a:r>
            <a:r>
              <a:rPr lang="en-US" altLang="zh-CN" i="1" dirty="0">
                <a:solidFill>
                  <a:schemeClr val="bg1"/>
                </a:solidFill>
              </a:rPr>
              <a:t>Principles of Optics</a:t>
            </a:r>
            <a:r>
              <a:rPr lang="en-US" altLang="zh-CN" dirty="0">
                <a:solidFill>
                  <a:schemeClr val="bg1"/>
                </a:solidFill>
              </a:rPr>
              <a:t>, 7.5.4 </a:t>
            </a:r>
            <a:r>
              <a:rPr lang="zh-CN" altLang="en-US" dirty="0">
                <a:solidFill>
                  <a:schemeClr val="bg1"/>
                </a:solidFill>
              </a:rPr>
              <a:t>节。</a:t>
            </a: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Amrita Virtual Lab: Michelson's Interferometer — Refractive Index of Glass Plate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潘峰</a:t>
            </a:r>
            <a:r>
              <a:rPr lang="en-US" altLang="zh-CN" dirty="0">
                <a:solidFill>
                  <a:schemeClr val="bg1"/>
                </a:solidFill>
              </a:rPr>
              <a:t>《</a:t>
            </a:r>
            <a:r>
              <a:rPr lang="zh-CN" altLang="en-US" dirty="0">
                <a:solidFill>
                  <a:schemeClr val="bg1"/>
                </a:solidFill>
              </a:rPr>
              <a:t>迈克耳孙干涉仪测平行玻片折射率的研究</a:t>
            </a:r>
            <a:r>
              <a:rPr lang="en-US" altLang="zh-CN" dirty="0">
                <a:solidFill>
                  <a:schemeClr val="bg1"/>
                </a:solidFill>
              </a:rPr>
              <a:t>》</a:t>
            </a:r>
            <a:r>
              <a:rPr lang="zh-CN" altLang="en-US" dirty="0">
                <a:solidFill>
                  <a:schemeClr val="bg1"/>
                </a:solidFill>
              </a:rPr>
              <a:t>（北邮物理实验室公开 </a:t>
            </a:r>
            <a:r>
              <a:rPr lang="en-US" altLang="zh-CN" dirty="0">
                <a:solidFill>
                  <a:schemeClr val="bg1"/>
                </a:solidFill>
              </a:rPr>
              <a:t>PDF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1666</Words>
  <Application>Microsoft Office PowerPoint</Application>
  <PresentationFormat>全屏显示(16:9)</PresentationFormat>
  <Paragraphs>379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微软雅黑</vt:lpstr>
      <vt:lpstr>Arial</vt:lpstr>
      <vt:lpstr>Calibri</vt:lpstr>
      <vt:lpstr>Cambria Math</vt:lpstr>
      <vt:lpstr>Georgia</vt:lpstr>
      <vt:lpstr>Segoe UI 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迈克尔逊干涉仪测折射率实验探究</dc:title>
  <dc:subject>PptxGenJS Presentation</dc:subject>
  <dc:creator>实验探究答辩</dc:creator>
  <cp:lastModifiedBy>Ablaze G.</cp:lastModifiedBy>
  <cp:revision>7</cp:revision>
  <dcterms:created xsi:type="dcterms:W3CDTF">2026-06-05T03:15:07Z</dcterms:created>
  <dcterms:modified xsi:type="dcterms:W3CDTF">2026-06-05T03:55:17Z</dcterms:modified>
</cp:coreProperties>
</file>